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image13.jpeg" ContentType="image/jpeg"/>
  <Override PartName="/ppt/media/image14.jpeg" ContentType="image/jpeg"/>
  <Override PartName="/ppt/media/image1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747474"/>
        </a:solidFill>
        <a:effectLst/>
        <a:uFillTx/>
        <a:latin typeface="+mn-lt"/>
        <a:ea typeface="+mn-ea"/>
        <a:cs typeface="+mn-cs"/>
        <a:sym typeface="Helvetica Neue Light"/>
      </a:defRPr>
    </a:lvl1pPr>
    <a:lvl2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747474"/>
        </a:solidFill>
        <a:effectLst/>
        <a:uFillTx/>
        <a:latin typeface="+mn-lt"/>
        <a:ea typeface="+mn-ea"/>
        <a:cs typeface="+mn-cs"/>
        <a:sym typeface="Helvetica Neue Light"/>
      </a:defRPr>
    </a:lvl2pPr>
    <a:lvl3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747474"/>
        </a:solidFill>
        <a:effectLst/>
        <a:uFillTx/>
        <a:latin typeface="+mn-lt"/>
        <a:ea typeface="+mn-ea"/>
        <a:cs typeface="+mn-cs"/>
        <a:sym typeface="Helvetica Neue Light"/>
      </a:defRPr>
    </a:lvl3pPr>
    <a:lvl4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747474"/>
        </a:solidFill>
        <a:effectLst/>
        <a:uFillTx/>
        <a:latin typeface="+mn-lt"/>
        <a:ea typeface="+mn-ea"/>
        <a:cs typeface="+mn-cs"/>
        <a:sym typeface="Helvetica Neue Light"/>
      </a:defRPr>
    </a:lvl4pPr>
    <a:lvl5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747474"/>
        </a:solidFill>
        <a:effectLst/>
        <a:uFillTx/>
        <a:latin typeface="+mn-lt"/>
        <a:ea typeface="+mn-ea"/>
        <a:cs typeface="+mn-cs"/>
        <a:sym typeface="Helvetica Neue Light"/>
      </a:defRPr>
    </a:lvl5pPr>
    <a:lvl6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747474"/>
        </a:solidFill>
        <a:effectLst/>
        <a:uFillTx/>
        <a:latin typeface="+mn-lt"/>
        <a:ea typeface="+mn-ea"/>
        <a:cs typeface="+mn-cs"/>
        <a:sym typeface="Helvetica Neue Light"/>
      </a:defRPr>
    </a:lvl6pPr>
    <a:lvl7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747474"/>
        </a:solidFill>
        <a:effectLst/>
        <a:uFillTx/>
        <a:latin typeface="+mn-lt"/>
        <a:ea typeface="+mn-ea"/>
        <a:cs typeface="+mn-cs"/>
        <a:sym typeface="Helvetica Neue Light"/>
      </a:defRPr>
    </a:lvl7pPr>
    <a:lvl8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747474"/>
        </a:solidFill>
        <a:effectLst/>
        <a:uFillTx/>
        <a:latin typeface="+mn-lt"/>
        <a:ea typeface="+mn-ea"/>
        <a:cs typeface="+mn-cs"/>
        <a:sym typeface="Helvetica Neue Light"/>
      </a:defRPr>
    </a:lvl8pPr>
    <a:lvl9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747474"/>
        </a:solidFill>
        <a:effectLst/>
        <a:uFillTx/>
        <a:latin typeface="+mn-lt"/>
        <a:ea typeface="+mn-ea"/>
        <a:cs typeface="+mn-cs"/>
        <a:sym typeface="Helvetica Neue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C4C6C6"/>
              </a:solidFill>
              <a:prstDash val="solid"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12166"/>
              <a:lumOff val="-13042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FF8FA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4F728F"/>
              </a:solidFill>
              <a:prstDash val="solid"/>
              <a:miter lim="400000"/>
            </a:ln>
          </a:top>
          <a:bottom>
            <a:ln w="12700" cap="flat">
              <a:solidFill>
                <a:srgbClr val="4F728F"/>
              </a:solidFill>
              <a:prstDash val="solid"/>
              <a:miter lim="400000"/>
            </a:ln>
          </a:bottom>
          <a:insideH>
            <a:ln w="12700" cap="flat">
              <a:solidFill>
                <a:srgbClr val="4F728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4DAD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38EB0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D59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3C3C1D"/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CFCDBB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6C6C6"/>
              </a:solidFill>
              <a:prstDash val="solid"/>
              <a:miter lim="400000"/>
            </a:ln>
          </a:left>
          <a:right>
            <a:ln w="12700" cap="flat">
              <a:solidFill>
                <a:srgbClr val="C6C6C6"/>
              </a:solidFill>
              <a:prstDash val="solid"/>
              <a:miter lim="400000"/>
            </a:ln>
          </a:right>
          <a:top>
            <a:ln w="12700" cap="flat">
              <a:solidFill>
                <a:srgbClr val="656839"/>
              </a:solidFill>
              <a:prstDash val="solid"/>
              <a:miter lim="400000"/>
            </a:ln>
          </a:top>
          <a:bottom>
            <a:ln w="12700" cap="flat">
              <a:solidFill>
                <a:srgbClr val="3C3C1D"/>
              </a:solidFill>
              <a:prstDash val="solid"/>
              <a:miter lim="400000"/>
            </a:ln>
          </a:bottom>
          <a:insideH>
            <a:ln w="12700" cap="flat">
              <a:solidFill>
                <a:srgbClr val="C6C6C6"/>
              </a:solidFill>
              <a:prstDash val="solid"/>
              <a:miter lim="400000"/>
            </a:ln>
          </a:insideH>
          <a:insideV>
            <a:ln w="12700" cap="flat">
              <a:solidFill>
                <a:srgbClr val="C6C6C6"/>
              </a:solidFill>
              <a:prstDash val="solid"/>
              <a:miter lim="400000"/>
            </a:ln>
          </a:insideV>
        </a:tcBdr>
        <a:fill>
          <a:solidFill>
            <a:srgbClr val="E8E9E8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3C3C1D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AAA485"/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656839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wholeTbl>
    <a:band2H>
      <a:tcTxStyle b="def" i="def"/>
      <a:tcStyle>
        <a:tcBdr/>
        <a:fill>
          <a:solidFill>
            <a:srgbClr val="E4E4E0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15151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D7766"/>
              </a:solidFill>
              <a:prstDash val="solid"/>
              <a:miter lim="400000"/>
            </a:ln>
          </a:top>
          <a:bottom>
            <a:ln w="12700" cap="flat">
              <a:solidFill>
                <a:srgbClr val="7D7766"/>
              </a:solidFill>
              <a:prstDash val="solid"/>
              <a:miter lim="400000"/>
            </a:ln>
          </a:bottom>
          <a:insideH>
            <a:ln w="12700" cap="flat">
              <a:solidFill>
                <a:srgbClr val="7D77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F8B7E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515151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15151"/>
              </a:solidFill>
              <a:prstDash val="solid"/>
              <a:miter lim="400000"/>
            </a:ln>
          </a:top>
          <a:bottom>
            <a:ln w="254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E5A4C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solidFill>
                <a:srgbClr val="747474"/>
              </a:solidFill>
              <a:prstDash val="solid"/>
              <a:miter lim="400000"/>
            </a:ln>
          </a:insideH>
          <a:insideV>
            <a:ln w="12700" cap="flat">
              <a:solidFill>
                <a:srgbClr val="74747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777777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C9C9C9"/>
              </a:solidFill>
              <a:prstDash val="solid"/>
              <a:miter lim="400000"/>
            </a:ln>
          </a:top>
          <a:bottom>
            <a:ln w="12700" cap="flat">
              <a:solidFill>
                <a:srgbClr val="C9C9C9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5" name="Shape 14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"/>
          <p:cNvSpPr/>
          <p:nvPr/>
        </p:nvSpPr>
        <p:spPr>
          <a:xfrm>
            <a:off x="1066800" y="6680200"/>
            <a:ext cx="22252676" cy="182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3" name="Title Text"/>
          <p:cNvSpPr txBox="1"/>
          <p:nvPr>
            <p:ph type="title"/>
          </p:nvPr>
        </p:nvSpPr>
        <p:spPr>
          <a:xfrm>
            <a:off x="1066800" y="1854200"/>
            <a:ext cx="22237700" cy="44704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4" name="Body Level One…"/>
          <p:cNvSpPr txBox="1"/>
          <p:nvPr>
            <p:ph type="body" sz="quarter" idx="1"/>
          </p:nvPr>
        </p:nvSpPr>
        <p:spPr>
          <a:xfrm>
            <a:off x="1066800" y="7048500"/>
            <a:ext cx="22237700" cy="14351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"/>
          <p:cNvSpPr/>
          <p:nvPr/>
        </p:nvSpPr>
        <p:spPr>
          <a:xfrm>
            <a:off x="14147800" y="11214100"/>
            <a:ext cx="0" cy="2000430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3" name="partial view looking up at the Colosseum under a blue sky"/>
          <p:cNvSpPr/>
          <p:nvPr>
            <p:ph type="pic" idx="21"/>
          </p:nvPr>
        </p:nvSpPr>
        <p:spPr>
          <a:xfrm>
            <a:off x="-88900" y="-38100"/>
            <a:ext cx="35966400" cy="21882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4" name="Title Text"/>
          <p:cNvSpPr txBox="1"/>
          <p:nvPr>
            <p:ph type="title"/>
          </p:nvPr>
        </p:nvSpPr>
        <p:spPr>
          <a:xfrm>
            <a:off x="2641600" y="10947400"/>
            <a:ext cx="10858500" cy="23876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pPr/>
            <a:r>
              <a:t>Title Text</a:t>
            </a:r>
          </a:p>
        </p:txBody>
      </p:sp>
      <p:sp>
        <p:nvSpPr>
          <p:cNvPr id="25" name="Body Level One…"/>
          <p:cNvSpPr txBox="1"/>
          <p:nvPr>
            <p:ph type="body" sz="quarter" idx="1"/>
          </p:nvPr>
        </p:nvSpPr>
        <p:spPr>
          <a:xfrm>
            <a:off x="14719300" y="11938000"/>
            <a:ext cx="9283700" cy="7112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/>
          <p:nvPr>
            <p:ph type="title"/>
          </p:nvPr>
        </p:nvSpPr>
        <p:spPr>
          <a:xfrm>
            <a:off x="1066800" y="4622800"/>
            <a:ext cx="22237700" cy="447040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ine"/>
          <p:cNvSpPr/>
          <p:nvPr/>
        </p:nvSpPr>
        <p:spPr>
          <a:xfrm>
            <a:off x="1066800" y="6845300"/>
            <a:ext cx="10002141" cy="0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42" name="partial view looking up at the Colosseum under a blue sky"/>
          <p:cNvSpPr/>
          <p:nvPr>
            <p:ph type="pic" idx="21"/>
          </p:nvPr>
        </p:nvSpPr>
        <p:spPr>
          <a:xfrm>
            <a:off x="9867900" y="-12700"/>
            <a:ext cx="20929600" cy="13982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3" name="Title Text"/>
          <p:cNvSpPr txBox="1"/>
          <p:nvPr>
            <p:ph type="title"/>
          </p:nvPr>
        </p:nvSpPr>
        <p:spPr>
          <a:xfrm>
            <a:off x="1066800" y="2019300"/>
            <a:ext cx="10007600" cy="44704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4" name="Body Level One…"/>
          <p:cNvSpPr txBox="1"/>
          <p:nvPr>
            <p:ph type="body" sz="quarter" idx="1"/>
          </p:nvPr>
        </p:nvSpPr>
        <p:spPr>
          <a:xfrm>
            <a:off x="1066800" y="7213600"/>
            <a:ext cx="10007600" cy="4470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xfrm>
            <a:off x="952499" y="12985800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Line"/>
          <p:cNvSpPr/>
          <p:nvPr/>
        </p:nvSpPr>
        <p:spPr>
          <a:xfrm>
            <a:off x="1066800" y="2768600"/>
            <a:ext cx="9512612" cy="186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70" name="row of blue gondolas with Venice in the background"/>
          <p:cNvSpPr/>
          <p:nvPr>
            <p:ph type="pic" idx="21"/>
          </p:nvPr>
        </p:nvSpPr>
        <p:spPr>
          <a:xfrm>
            <a:off x="12052300" y="-1016000"/>
            <a:ext cx="12788900" cy="190373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71" name="Title Text"/>
          <p:cNvSpPr txBox="1"/>
          <p:nvPr>
            <p:ph type="title"/>
          </p:nvPr>
        </p:nvSpPr>
        <p:spPr>
          <a:xfrm>
            <a:off x="1066800" y="469900"/>
            <a:ext cx="9525000" cy="19685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2" name="Body Level One…"/>
          <p:cNvSpPr txBox="1"/>
          <p:nvPr>
            <p:ph type="body" sz="half" idx="1"/>
          </p:nvPr>
        </p:nvSpPr>
        <p:spPr>
          <a:xfrm>
            <a:off x="1066800" y="3124200"/>
            <a:ext cx="9525000" cy="937260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Slide Number"/>
          <p:cNvSpPr txBox="1"/>
          <p:nvPr>
            <p:ph type="sldNum" sz="quarter" idx="2"/>
          </p:nvPr>
        </p:nvSpPr>
        <p:spPr>
          <a:xfrm>
            <a:off x="957643" y="12985800"/>
            <a:ext cx="368504" cy="374600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Line"/>
          <p:cNvSpPr/>
          <p:nvPr/>
        </p:nvSpPr>
        <p:spPr>
          <a:xfrm>
            <a:off x="1066799" y="2768600"/>
            <a:ext cx="22250401" cy="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81" name="Title Text"/>
          <p:cNvSpPr txBox="1"/>
          <p:nvPr>
            <p:ph type="title"/>
          </p:nvPr>
        </p:nvSpPr>
        <p:spPr>
          <a:xfrm>
            <a:off x="1066800" y="469900"/>
            <a:ext cx="9525000" cy="19685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2" name="Body Level One…"/>
          <p:cNvSpPr txBox="1"/>
          <p:nvPr>
            <p:ph type="body" sz="half" idx="1"/>
          </p:nvPr>
        </p:nvSpPr>
        <p:spPr>
          <a:xfrm>
            <a:off x="1066800" y="3124200"/>
            <a:ext cx="9525000" cy="937260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Slide Number"/>
          <p:cNvSpPr txBox="1"/>
          <p:nvPr>
            <p:ph type="sldNum" sz="quarter" idx="2"/>
          </p:nvPr>
        </p:nvSpPr>
        <p:spPr>
          <a:xfrm>
            <a:off x="957643" y="12985800"/>
            <a:ext cx="368504" cy="374600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Line"/>
          <p:cNvSpPr/>
          <p:nvPr/>
        </p:nvSpPr>
        <p:spPr>
          <a:xfrm>
            <a:off x="1066800" y="2768600"/>
            <a:ext cx="9512612" cy="186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91" name="Title Text"/>
          <p:cNvSpPr txBox="1"/>
          <p:nvPr>
            <p:ph type="title"/>
          </p:nvPr>
        </p:nvSpPr>
        <p:spPr>
          <a:xfrm>
            <a:off x="1066800" y="469900"/>
            <a:ext cx="9525000" cy="19685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1066800" y="3124200"/>
            <a:ext cx="9525000" cy="937260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indent="-457200">
              <a:spcBef>
                <a:spcPts val="4200"/>
              </a:spcBef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xfrm>
            <a:off x="957643" y="12985800"/>
            <a:ext cx="368504" cy="374600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ody Level One…"/>
          <p:cNvSpPr txBox="1"/>
          <p:nvPr>
            <p:ph type="body" idx="1"/>
          </p:nvPr>
        </p:nvSpPr>
        <p:spPr>
          <a:xfrm>
            <a:off x="1663700" y="1244600"/>
            <a:ext cx="21031200" cy="112014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Line"/>
          <p:cNvSpPr/>
          <p:nvPr/>
        </p:nvSpPr>
        <p:spPr>
          <a:xfrm flipH="1">
            <a:off x="15811739" y="711200"/>
            <a:ext cx="1" cy="11143606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09" name="Line"/>
          <p:cNvSpPr/>
          <p:nvPr/>
        </p:nvSpPr>
        <p:spPr>
          <a:xfrm>
            <a:off x="15811500" y="6277570"/>
            <a:ext cx="7763085" cy="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10" name="bridge over river with city buildings in the background"/>
          <p:cNvSpPr/>
          <p:nvPr>
            <p:ph type="pic" sz="quarter" idx="21"/>
          </p:nvPr>
        </p:nvSpPr>
        <p:spPr>
          <a:xfrm>
            <a:off x="15930593" y="6423034"/>
            <a:ext cx="9151185" cy="61087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1" name="row of blue gondolas with Venice in the background"/>
          <p:cNvSpPr/>
          <p:nvPr>
            <p:ph type="pic" sz="half" idx="22"/>
          </p:nvPr>
        </p:nvSpPr>
        <p:spPr>
          <a:xfrm>
            <a:off x="15900400" y="-152400"/>
            <a:ext cx="7785100" cy="115951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2" name="aerial view of an old city in Italy"/>
          <p:cNvSpPr/>
          <p:nvPr>
            <p:ph type="pic" idx="23"/>
          </p:nvPr>
        </p:nvSpPr>
        <p:spPr>
          <a:xfrm>
            <a:off x="622300" y="711200"/>
            <a:ext cx="15544800" cy="11328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3" name="Body Level One…"/>
          <p:cNvSpPr txBox="1"/>
          <p:nvPr>
            <p:ph type="body" sz="quarter" idx="1"/>
          </p:nvPr>
        </p:nvSpPr>
        <p:spPr>
          <a:xfrm>
            <a:off x="977900" y="12179300"/>
            <a:ext cx="14579600" cy="1320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3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647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647700">
              <a:spcBef>
                <a:spcPts val="0"/>
              </a:spcBef>
              <a:buSzTx/>
              <a:buFontTx/>
              <a:buNone/>
              <a:defRPr sz="3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–Johnny Appleseed</a:t>
            </a:r>
          </a:p>
        </p:txBody>
      </p:sp>
      <p:sp>
        <p:nvSpPr>
          <p:cNvPr id="122" name="“Type a quote here.”"/>
          <p:cNvSpPr txBox="1"/>
          <p:nvPr>
            <p:ph type="body" sz="quarter" idx="22"/>
          </p:nvPr>
        </p:nvSpPr>
        <p:spPr>
          <a:xfrm>
            <a:off x="2387600" y="6061864"/>
            <a:ext cx="19621500" cy="944572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 defTabSz="647700">
              <a:spcBef>
                <a:spcPts val="3400"/>
              </a:spcBef>
              <a:buSzTx/>
              <a:buFontTx/>
              <a:buNone/>
              <a:defRPr sz="5600"/>
            </a:lvl1pPr>
          </a:lstStyle>
          <a:p>
            <a:pPr/>
            <a:r>
              <a:t>“Type a quote here.”</a:t>
            </a:r>
          </a:p>
        </p:txBody>
      </p:sp>
      <p:sp>
        <p:nvSpPr>
          <p:cNvPr id="1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aerial view of an old city in Italy"/>
          <p:cNvSpPr/>
          <p:nvPr>
            <p:ph type="pic" idx="21"/>
          </p:nvPr>
        </p:nvSpPr>
        <p:spPr>
          <a:xfrm>
            <a:off x="-12700" y="-25400"/>
            <a:ext cx="24384000" cy="177743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>
            <a:off x="1066800" y="2768600"/>
            <a:ext cx="22252698" cy="182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1066800" y="469900"/>
            <a:ext cx="22237700" cy="196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1066800" y="3124200"/>
            <a:ext cx="22237700" cy="9372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23216221" y="12985800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>
              <a:spcBef>
                <a:spcPts val="0"/>
              </a:spcBef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5000" u="none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5000" u="none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5000" u="none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5000" u="none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5000" u="none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5000" u="none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5000" u="none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5000" u="none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 typeface="Helvetica Neue"/>
        <a:buChar char="•"/>
        <a:tabLst/>
        <a:defRPr b="0" baseline="0" cap="none" i="0" spc="0" strike="noStrike" sz="5000" u="none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9pPr>
    </p:bodyStyle>
    <p:otherStyle>
      <a:lvl1pPr marL="0" marR="0" indent="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gif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e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e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hyperlink" Target="https://github.com/denjiyy/IoTinITS" TargetMode="Externa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e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artial view looking up at the Colosseum under a blue sky" descr="partial view looking up at the Colosseum under a blue sky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17283" r="0" b="17283"/>
          <a:stretch>
            <a:fillRect/>
          </a:stretch>
        </p:blipFill>
        <p:spPr>
          <a:xfrm>
            <a:off x="0" y="0"/>
            <a:ext cx="24384000" cy="10680700"/>
          </a:xfrm>
          <a:prstGeom prst="rect">
            <a:avLst/>
          </a:prstGeom>
        </p:spPr>
      </p:pic>
      <p:sp>
        <p:nvSpPr>
          <p:cNvPr id="148" name="Интернет на нещата в интелигентните транспортни систем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09930">
              <a:defRPr sz="4988"/>
            </a:lvl1pPr>
          </a:lstStyle>
          <a:p>
            <a:pPr/>
            <a:r>
              <a:t>Интернет на нещата в интелигентните транспортни системи</a:t>
            </a:r>
          </a:p>
        </p:txBody>
      </p:sp>
      <p:sp>
        <p:nvSpPr>
          <p:cNvPr id="149" name="Изготвил: Денис Табутов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Изготвил: Денис Табутов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artial view looking up at the Colosseum under a blue sky" descr="partial view looking up at the Colosseum under a blue sky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17148" r="0" b="17148"/>
          <a:stretch>
            <a:fillRect/>
          </a:stretch>
        </p:blipFill>
        <p:spPr>
          <a:xfrm>
            <a:off x="0" y="0"/>
            <a:ext cx="24384000" cy="10680700"/>
          </a:xfrm>
          <a:prstGeom prst="rect">
            <a:avLst/>
          </a:prstGeom>
        </p:spPr>
      </p:pic>
      <p:sp>
        <p:nvSpPr>
          <p:cNvPr id="152" name="Раздел 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Раздел I</a:t>
            </a:r>
          </a:p>
        </p:txBody>
      </p:sp>
      <p:sp>
        <p:nvSpPr>
          <p:cNvPr id="153" name="Как IoT се използва в ITS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Как IoT се използва в ITS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artial view looking up at the Colosseum under a blue sky" descr="partial view looking up at the Colosseum under a blue sky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5614" t="0" r="5614" b="0"/>
          <a:stretch>
            <a:fillRect/>
          </a:stretch>
        </p:blipFill>
        <p:spPr>
          <a:xfrm>
            <a:off x="12192000" y="0"/>
            <a:ext cx="12192000" cy="13716000"/>
          </a:xfrm>
          <a:prstGeom prst="rect">
            <a:avLst/>
          </a:prstGeom>
        </p:spPr>
      </p:pic>
      <p:sp>
        <p:nvSpPr>
          <p:cNvPr id="156" name="Какво са ITS и IoT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Какво са ITS и IoT?</a:t>
            </a:r>
          </a:p>
        </p:txBody>
      </p:sp>
      <p:sp>
        <p:nvSpPr>
          <p:cNvPr id="157" name="Интелигентите транспортни системи използват данни, комуникация и автоматизация за по-добро управление на трафика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726440">
              <a:defRPr sz="3168"/>
            </a:pPr>
            <a:r>
              <a:t>Интелигентите транспортни системи използват данни, комуникация и автоматизация за по-добро управление на трафика.</a:t>
            </a:r>
          </a:p>
          <a:p>
            <a:pPr defTabSz="726440">
              <a:defRPr sz="3168"/>
            </a:pPr>
            <a:r>
              <a:t>IoT добавя мрежа от устройства, сензори, камери и свързани системи, които събират и обменят данни в реално време.</a:t>
            </a:r>
          </a:p>
          <a:p>
            <a:pPr defTabSz="726440">
              <a:defRPr sz="3168"/>
            </a:pPr>
            <a:r>
              <a:t>Комбинацията позволява не само наблюдение, а и по-интелигентни решения за маршрутизиране и управление.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artial view looking up at the Colosseum under a blue sky" descr="partial view looking up at the Colosseum under a blue sky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20355" t="0" r="20355" b="0"/>
          <a:stretch>
            <a:fillRect/>
          </a:stretch>
        </p:blipFill>
        <p:spPr>
          <a:xfrm>
            <a:off x="12192000" y="0"/>
            <a:ext cx="12192000" cy="13716000"/>
          </a:xfrm>
          <a:prstGeom prst="rect">
            <a:avLst/>
          </a:prstGeom>
        </p:spPr>
      </p:pic>
      <p:sp>
        <p:nvSpPr>
          <p:cNvPr id="160" name="Защо IoT е важен за градския транспорт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Защо IoT е важен за градския транспорт?</a:t>
            </a:r>
          </a:p>
        </p:txBody>
      </p:sp>
      <p:sp>
        <p:nvSpPr>
          <p:cNvPr id="161" name="Преминава се от реактивно към проактивно управление на трафика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Преминава се от реактивно към проактивно управление на трафика.</a:t>
            </a:r>
          </a:p>
          <a:p>
            <a:pPr/>
            <a:r>
              <a:t>Данните идват с голям обем, висока скорост и разнообразни формати.</a:t>
            </a:r>
          </a:p>
          <a:p>
            <a:pPr/>
            <a:r>
              <a:t>Това отваря възможност за анализ, прогноза и оптимизация на транспортните потоци.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Архитектура на данните: Edge, Fog и Clou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Архитектура на данните: Edge, Fog и Cloud</a:t>
            </a:r>
          </a:p>
        </p:txBody>
      </p:sp>
      <p:sp>
        <p:nvSpPr>
          <p:cNvPr id="164" name="Edge: част от обработката се извършва близо до източника на данни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Edge: част от обработката се извършва близо до източника на данни.</a:t>
            </a:r>
          </a:p>
          <a:p>
            <a:pPr/>
            <a:r>
              <a:t>Fog: междинни възли обединяват и подготвят данните.</a:t>
            </a:r>
          </a:p>
          <a:p>
            <a:pPr/>
            <a:r>
              <a:t>Cloud: съхранение, анализ, модели и визуализация на големи обеми транспортни данни.</a:t>
            </a:r>
          </a:p>
        </p:txBody>
      </p:sp>
      <p:pic>
        <p:nvPicPr>
          <p:cNvPr id="165" name="cloud-fog-edge.jpeg" descr="cloud-fog-edge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159263" y="3410585"/>
            <a:ext cx="12257474" cy="68948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Комуникация и източници на данн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Комуникация и източници на данни</a:t>
            </a:r>
          </a:p>
        </p:txBody>
      </p:sp>
      <p:sp>
        <p:nvSpPr>
          <p:cNvPr id="168" name="Комуникация: V2V, V2I, V2X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Комуникация: V2V, V2I, V2X.</a:t>
            </a:r>
          </a:p>
          <a:p>
            <a:pPr/>
            <a:r>
              <a:t>Технологии: 5G, MQTT, LoRaWAN, API услуги за трафик.</a:t>
            </a:r>
          </a:p>
          <a:p>
            <a:pPr/>
            <a:r>
              <a:t>Източници: камери, GPS, пътна инфраструктура, навигационни платформи.</a:t>
            </a:r>
          </a:p>
        </p:txBody>
      </p:sp>
      <p:pic>
        <p:nvPicPr>
          <p:cNvPr id="169" name="LIDAR-4-AV.jpg" descr="LIDAR-4-AV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79862" y="7435671"/>
            <a:ext cx="13112204" cy="66896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yEiRgjQ.jpg" descr="yEiRgjQ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393542" y="-8555"/>
            <a:ext cx="10002141" cy="75016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artial view looking up at the Colosseum under a blue sky" descr="partial view looking up at the Colosseum under a blue sky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1104" t="90" r="30643" b="1816"/>
          <a:stretch>
            <a:fillRect/>
          </a:stretch>
        </p:blipFill>
        <p:spPr>
          <a:xfrm>
            <a:off x="12192000" y="0"/>
            <a:ext cx="12192000" cy="13716000"/>
          </a:xfrm>
          <a:prstGeom prst="rect">
            <a:avLst/>
          </a:prstGeom>
        </p:spPr>
      </p:pic>
      <p:sp>
        <p:nvSpPr>
          <p:cNvPr id="173" name="Проблемът в градската мобилност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Проблемът в градската мобилност</a:t>
            </a:r>
          </a:p>
        </p:txBody>
      </p:sp>
      <p:sp>
        <p:nvSpPr>
          <p:cNvPr id="174" name="Задръствания и загуба на време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Задръствания и загуба на време.</a:t>
            </a:r>
          </a:p>
          <a:p>
            <a:pPr/>
            <a:r>
              <a:t>По-високи емисии и по-ниска ефективност на транспорта.</a:t>
            </a:r>
          </a:p>
          <a:p>
            <a:pPr/>
            <a:r>
              <a:t>Необходимост от по-интелигентен избор на маршрут според различни цели.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artial view looking up at the Colosseum under a blue sky" descr="partial view looking up at the Colosseum under a blue sky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11064" r="0" b="11064"/>
          <a:stretch>
            <a:fillRect/>
          </a:stretch>
        </p:blipFill>
        <p:spPr>
          <a:xfrm>
            <a:off x="0" y="0"/>
            <a:ext cx="24384000" cy="10680700"/>
          </a:xfrm>
          <a:prstGeom prst="rect">
            <a:avLst/>
          </a:prstGeom>
        </p:spPr>
      </p:pic>
      <p:sp>
        <p:nvSpPr>
          <p:cNvPr id="177" name="Раздел I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Раздел II</a:t>
            </a:r>
          </a:p>
        </p:txBody>
      </p:sp>
      <p:sp>
        <p:nvSpPr>
          <p:cNvPr id="178" name="Архитектура и реализация на Urban Route Optimizer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668655">
              <a:defRPr sz="2916"/>
            </a:lvl1pPr>
          </a:lstStyle>
          <a:p>
            <a:pPr/>
            <a:r>
              <a:t>Архитектура и реализация на Urban Route Optimizer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artial view looking up at the Colosseum under a blue sky" descr="partial view looking up at the Colosseum under a blue sky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25010" t="0" r="25010" b="0"/>
          <a:stretch>
            <a:fillRect/>
          </a:stretch>
        </p:blipFill>
        <p:spPr>
          <a:xfrm>
            <a:off x="12192000" y="0"/>
            <a:ext cx="12192000" cy="13716000"/>
          </a:xfrm>
          <a:prstGeom prst="rect">
            <a:avLst/>
          </a:prstGeom>
        </p:spPr>
      </p:pic>
      <p:sp>
        <p:nvSpPr>
          <p:cNvPr id="181" name="Цел на проект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Цел на проекта</a:t>
            </a:r>
          </a:p>
        </p:txBody>
      </p:sp>
      <p:sp>
        <p:nvSpPr>
          <p:cNvPr id="182" name="Да се изгради система за интелигентно маршрутизиране в градска среда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Да се изгради система за интелигентно маршрутизиране в градска среда.</a:t>
            </a:r>
          </a:p>
          <a:p>
            <a:pPr/>
            <a:r>
              <a:t>Да се комбинират геопространствени данни, live traffic информация и ML компоненти.</a:t>
            </a:r>
          </a:p>
          <a:p>
            <a:pPr/>
            <a:r>
              <a:t>Да се сравнят най-бърз, най-кратък и по-екологичен маршрут.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Urban Route Optimiser: общ преглед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Urban Route Optimiser: общ преглед</a:t>
            </a:r>
          </a:p>
        </p:txBody>
      </p:sp>
      <p:sp>
        <p:nvSpPr>
          <p:cNvPr id="185" name="Проектът е реализиран, като Streamlit приложение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Проектът е реализиран, като Streamlit приложение.</a:t>
            </a:r>
          </a:p>
          <a:p>
            <a:pPr/>
            <a:r>
              <a:t>Има локален routing engine върху пътна мрежа на София и optional live backend чрез TomTom API.</a:t>
            </a:r>
          </a:p>
          <a:p>
            <a:pPr/>
            <a:r>
              <a:t>Системата визуализира маршрути, ETA, емисии и допълнителни ML оценки. </a:t>
            </a:r>
          </a:p>
        </p:txBody>
      </p:sp>
      <p:pic>
        <p:nvPicPr>
          <p:cNvPr id="186" name="Screenshot 2026-04-04 at 16.15.02.png" descr="Screenshot 2026-04-04 at 16.15.0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657500" y="-24730"/>
            <a:ext cx="11744477" cy="70589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Screenshot 2026-04-04 at 16.16.07.png" descr="Screenshot 2026-04-04 at 16.16.0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659811" y="6644449"/>
            <a:ext cx="11913999" cy="71670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partial view looking up at the Colosseum under a blue sky" descr="partial view looking up at the Colosseum under a blue sky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20370" t="0" r="20370" b="0"/>
          <a:stretch>
            <a:fillRect/>
          </a:stretch>
        </p:blipFill>
        <p:spPr>
          <a:xfrm>
            <a:off x="12192000" y="0"/>
            <a:ext cx="12192000" cy="13716000"/>
          </a:xfrm>
          <a:prstGeom prst="rect">
            <a:avLst/>
          </a:prstGeom>
        </p:spPr>
      </p:pic>
      <p:sp>
        <p:nvSpPr>
          <p:cNvPr id="190" name="Подготовка за данните за Софи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Подготовка за данните за София</a:t>
            </a:r>
          </a:p>
        </p:txBody>
      </p:sp>
      <p:sp>
        <p:nvSpPr>
          <p:cNvPr id="191" name="Използва се пътна информация от OpenStreetMap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Използва се пътна информация от OpenStreetMap.</a:t>
            </a:r>
          </a:p>
          <a:p>
            <a:pPr/>
            <a:r>
              <a:t>Скриптът generate_route_network.py преобразува необработения extract в routable CSV мрежа.</a:t>
            </a:r>
          </a:p>
          <a:p>
            <a:pPr/>
            <a:r>
              <a:t>За всеки сегмент се изчисляват дължина, скорост, congestion profile, eco factor и други routing характеристики.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Dijkstra_Animation.gif" descr="Dijkstra_Animation.gif"/>
          <p:cNvPicPr>
            <a:picLocks noChangeAspect="0"/>
          </p:cNvPicPr>
          <p:nvPr>
            <p:ph type="pic" idx="21"/>
          </p:nvPr>
        </p:nvPicPr>
        <p:blipFill>
          <a:blip r:embed="rId2">
            <a:extLst/>
          </a:blip>
          <a:stretch>
            <a:fillRect/>
          </a:stretch>
        </p:blipFill>
        <p:spPr>
          <a:xfrm>
            <a:off x="16571978" y="219772"/>
            <a:ext cx="7888405" cy="6188077"/>
          </a:xfrm>
          <a:prstGeom prst="rect">
            <a:avLst/>
          </a:prstGeom>
        </p:spPr>
      </p:pic>
      <p:sp>
        <p:nvSpPr>
          <p:cNvPr id="194" name="Алгоритъм и маршрутизиран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Алгоритъм и маршрутизиране</a:t>
            </a:r>
          </a:p>
        </p:txBody>
      </p:sp>
      <p:sp>
        <p:nvSpPr>
          <p:cNvPr id="195" name="Използван е модифициран алгоритъм на Дейкстра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Използван е модифициран алгоритъм на Дейкстра.</a:t>
            </a:r>
          </a:p>
          <a:p>
            <a:pPr/>
            <a:r>
              <a:t>Системата може да оптимизира по различни критерии: време, дължина, екологичен разход.</a:t>
            </a:r>
          </a:p>
          <a:p>
            <a:pPr/>
            <a:r>
              <a:t>Routing логиката е реализирана в route_engine.py.</a:t>
            </a:r>
          </a:p>
        </p:txBody>
      </p:sp>
      <p:pic>
        <p:nvPicPr>
          <p:cNvPr id="196" name="Screenshot 2026-04-04 at 16.19.13.png" descr="Screenshot 2026-04-04 at 16.19.1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816472" y="6443201"/>
            <a:ext cx="12477467" cy="36003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Screenshot 2026-04-04 at 16.19.24.png" descr="Screenshot 2026-04-04 at 16.19.2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816472" y="10021409"/>
            <a:ext cx="12477467" cy="34196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partial view looking up at the Colosseum under a blue sky" descr="partial view looking up at the Colosseum under a blue sky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23765" t="0" r="23765" b="0"/>
          <a:stretch>
            <a:fillRect/>
          </a:stretch>
        </p:blipFill>
        <p:spPr>
          <a:xfrm>
            <a:off x="12192000" y="0"/>
            <a:ext cx="12192000" cy="13716000"/>
          </a:xfrm>
          <a:prstGeom prst="rect">
            <a:avLst/>
          </a:prstGeom>
        </p:spPr>
      </p:pic>
      <p:sp>
        <p:nvSpPr>
          <p:cNvPr id="200" name="Live traffic интеграция и ограничени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Live traffic интеграция и ограничения</a:t>
            </a:r>
          </a:p>
        </p:txBody>
      </p:sp>
      <p:sp>
        <p:nvSpPr>
          <p:cNvPr id="201" name="При наличен API ключ приложението използва live traffic данни от TomTom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При наличен API ключ приложението използва live traffic данни от TomTom.</a:t>
            </a:r>
          </a:p>
          <a:p>
            <a:pPr/>
            <a:r>
              <a:t>Live интеграцията е реализирана в live_routing.py.</a:t>
            </a:r>
          </a:p>
          <a:p>
            <a:pPr/>
            <a:r>
              <a:t>Важно ограничение: локалният режим остава моделиран и не използва директни feeds от реални светофари контролери.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partial view looking up at the Colosseum under a blue sky" descr="partial view looking up at the Colosseum under a blue sky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24074" t="0" r="24074" b="0"/>
          <a:stretch>
            <a:fillRect/>
          </a:stretch>
        </p:blipFill>
        <p:spPr>
          <a:xfrm>
            <a:off x="12192000" y="0"/>
            <a:ext cx="12192000" cy="13716000"/>
          </a:xfrm>
          <a:prstGeom prst="rect">
            <a:avLst/>
          </a:prstGeom>
        </p:spPr>
      </p:pic>
      <p:sp>
        <p:nvSpPr>
          <p:cNvPr id="204" name="ML в самото приложени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ML в самото приложение</a:t>
            </a:r>
          </a:p>
        </p:txBody>
      </p:sp>
      <p:sp>
        <p:nvSpPr>
          <p:cNvPr id="205" name="В проекта има и Sofia-specific ML компоненти за ETA, congestion и green-corridor оценка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В проекта има и Sofia-specific ML компоненти за ETA, congestion и green-corridor оценка.</a:t>
            </a:r>
          </a:p>
          <a:p>
            <a:pPr/>
            <a:r>
              <a:t>Те подпомагат локалния routing flow и са полезни за техническа демонстрация.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partial view looking up at the Colosseum under a blue sky" descr="partial view looking up at the Colosseum under a blue sky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5020" r="0" b="5020"/>
          <a:stretch>
            <a:fillRect/>
          </a:stretch>
        </p:blipFill>
        <p:spPr>
          <a:xfrm>
            <a:off x="12192000" y="0"/>
            <a:ext cx="12192000" cy="13716000"/>
          </a:xfrm>
          <a:prstGeom prst="rect">
            <a:avLst/>
          </a:prstGeom>
        </p:spPr>
      </p:pic>
      <p:sp>
        <p:nvSpPr>
          <p:cNvPr id="208" name="Отделното ML dem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Отделното ML demo</a:t>
            </a:r>
          </a:p>
        </p:txBody>
      </p:sp>
      <p:sp>
        <p:nvSpPr>
          <p:cNvPr id="209" name="Добавен е самостоятелен tabular ML demo проект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Добавен е самостоятелен tabular ML demo проект.</a:t>
            </a:r>
          </a:p>
          <a:p>
            <a:pPr/>
            <a:r>
              <a:t>Той е върху реален външен dataset, а не върху вътрешно генерирани таргети.</a:t>
            </a:r>
          </a:p>
          <a:p>
            <a:pPr/>
            <a:r>
              <a:t>Това включва: dataset, trained model, result.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Dataset за ML демото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Dataset за ML демото</a:t>
            </a:r>
          </a:p>
        </p:txBody>
      </p:sp>
      <p:sp>
        <p:nvSpPr>
          <p:cNvPr id="212" name="Използван е Metro Interstate Traffic Volume от UCI Machine Learning Repository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Използван е Metro Interstate Traffic Volume от UCI Machine Learning Repository.</a:t>
            </a:r>
          </a:p>
          <a:p>
            <a:pPr/>
            <a:r>
              <a:t>Dataset-ът съдържа 48,204 почасови наблюдения за трафик, време и прачнични дни.</a:t>
            </a:r>
          </a:p>
          <a:p>
            <a:pPr/>
            <a:r>
              <a:t>Локално е включен в проекта и е описан в ml_demo/README.md</a:t>
            </a:r>
          </a:p>
        </p:txBody>
      </p:sp>
      <p:pic>
        <p:nvPicPr>
          <p:cNvPr id="213" name="Screenshot 2026-04-04 at 16.25.09.png" descr="Screenshot 2026-04-04 at 16.25.0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92181" y="1176471"/>
            <a:ext cx="13016947" cy="116774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partial view looking up at the Colosseum under a blue sky" descr="partial view looking up at the Colosseum under a blue sky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25000" t="0" r="25000" b="0"/>
          <a:stretch>
            <a:fillRect/>
          </a:stretch>
        </p:blipFill>
        <p:spPr>
          <a:xfrm>
            <a:off x="12192000" y="0"/>
            <a:ext cx="12192000" cy="13716000"/>
          </a:xfrm>
          <a:prstGeom prst="rect">
            <a:avLst/>
          </a:prstGeom>
        </p:spPr>
      </p:pic>
      <p:sp>
        <p:nvSpPr>
          <p:cNvPr id="216" name="Обучени модел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Обучени модели</a:t>
            </a:r>
          </a:p>
        </p:txBody>
      </p:sp>
      <p:sp>
        <p:nvSpPr>
          <p:cNvPr id="217" name="Regression задача: Ridge модел за предсказване на traffic_volume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Regression задача: Ridge модел за предсказване на traffic_volume.</a:t>
            </a:r>
          </a:p>
          <a:p>
            <a:pPr/>
            <a:r>
              <a:t>Classification задача: LogisticRegression за low/medium/high traffic bands.</a:t>
            </a:r>
          </a:p>
          <a:p>
            <a:pPr/>
            <a:r>
              <a:t>Използван е chronological split: 70/15/15, за да се избегне темпорал leakage.</a:t>
            </a:r>
          </a:p>
          <a:p>
            <a:pPr/>
            <a:r>
              <a:t>Има и baseline сравнение с DummyRegressor и DummyClassifier.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Резултат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Резултати</a:t>
            </a:r>
          </a:p>
        </p:txBody>
      </p:sp>
      <p:sp>
        <p:nvSpPr>
          <p:cNvPr id="220" name="Regression: R^2 = 0.7162, RMSE = 1056.86, MAE = 825.19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734694">
              <a:defRPr sz="3204"/>
            </a:pPr>
            <a:r>
              <a:t>Regression: R^2 = 0.7162, RMSE = 1056.86, MAE = 825.19.</a:t>
            </a:r>
          </a:p>
          <a:p>
            <a:pPr defTabSz="734694">
              <a:defRPr sz="3204"/>
            </a:pPr>
            <a:r>
              <a:t>Classification: Accuracy = 0.7960, F1 macro = 0.7951.</a:t>
            </a:r>
          </a:p>
          <a:p>
            <a:pPr defTabSz="734694">
              <a:defRPr sz="3204"/>
            </a:pPr>
            <a:r>
              <a:t>Baseline резултатите са значително по-слаби, което показва, че моделите научават реални зависимости.</a:t>
            </a:r>
          </a:p>
          <a:p>
            <a:pPr defTabSz="734694">
              <a:defRPr sz="3204"/>
            </a:pPr>
            <a:r>
              <a:t>Подробните метрики са записани в uci_traffic_demo_results.json.</a:t>
            </a:r>
          </a:p>
        </p:txBody>
      </p:sp>
      <p:pic>
        <p:nvPicPr>
          <p:cNvPr id="221" name="Screenshot 2026-04-04 at 17.02.22.png" descr="Screenshot 2026-04-04 at 17.02.2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35145" y="4697513"/>
            <a:ext cx="12105710" cy="42955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partial view looking up at the Colosseum under a blue sky" descr="partial view looking up at the Colosseum under a blue sky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17315" r="0" b="17315"/>
          <a:stretch>
            <a:fillRect/>
          </a:stretch>
        </p:blipFill>
        <p:spPr>
          <a:xfrm>
            <a:off x="0" y="0"/>
            <a:ext cx="24384000" cy="10680700"/>
          </a:xfrm>
          <a:prstGeom prst="rect">
            <a:avLst/>
          </a:prstGeom>
        </p:spPr>
      </p:pic>
      <p:sp>
        <p:nvSpPr>
          <p:cNvPr id="224" name="Раздел II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Раздел III</a:t>
            </a:r>
          </a:p>
        </p:txBody>
      </p:sp>
      <p:sp>
        <p:nvSpPr>
          <p:cNvPr id="225" name="Демонстрация на приложението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Демонстрация на приложението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partial view looking up at the Colosseum under a blue sky" descr="partial view looking up at the Colosseum under a blue sky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5555" t="0" r="5555" b="0"/>
          <a:stretch>
            <a:fillRect/>
          </a:stretch>
        </p:blipFill>
        <p:spPr>
          <a:xfrm>
            <a:off x="12192000" y="0"/>
            <a:ext cx="12192000" cy="13716000"/>
          </a:xfrm>
          <a:prstGeom prst="rect">
            <a:avLst/>
          </a:prstGeom>
        </p:spPr>
      </p:pic>
      <p:sp>
        <p:nvSpPr>
          <p:cNvPr id="228" name="Технологичен стек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Технологичен стек</a:t>
            </a:r>
          </a:p>
        </p:txBody>
      </p:sp>
      <p:sp>
        <p:nvSpPr>
          <p:cNvPr id="229" name="Python 3.13, Streamlit, Pandas, NumPy, scikit-learn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Python 3.13, Streamlit, Pandas, NumPy, scikit-learn.</a:t>
            </a:r>
          </a:p>
          <a:p>
            <a:pPr/>
            <a:r>
              <a:t>Модулите, dataset-ът, README и резултатите са прикачени в: </a:t>
            </a:r>
            <a:r>
              <a:rPr u="sng">
                <a:hlinkClick r:id="rId3" invalidUrl="" action="" tgtFrame="" tooltip="" history="1" highlightClick="0" endSnd="0"/>
              </a:rPr>
              <a:t>https://github.com/denjiyy/IoTinITS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partial view looking up at the Colosseum under a blue sky" descr="partial view looking up at the Colosseum under a blue sky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20334" t="0" r="20334" b="0"/>
          <a:stretch>
            <a:fillRect/>
          </a:stretch>
        </p:blipFill>
        <p:spPr>
          <a:xfrm>
            <a:off x="12192000" y="0"/>
            <a:ext cx="12192000" cy="13716000"/>
          </a:xfrm>
          <a:prstGeom prst="rect">
            <a:avLst/>
          </a:prstGeom>
        </p:spPr>
      </p:pic>
      <p:sp>
        <p:nvSpPr>
          <p:cNvPr id="232" name="Заключени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Заключение</a:t>
            </a:r>
          </a:p>
        </p:txBody>
      </p:sp>
      <p:sp>
        <p:nvSpPr>
          <p:cNvPr id="233" name="IoT е ключов елемент в развитието на интелигентите транспортни системи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IoT е ключов елемент в развитието на интелигентите транспортни системи.</a:t>
            </a:r>
          </a:p>
          <a:p>
            <a:pPr/>
            <a:r>
              <a:t>Urban Route Optimiser показва как routing, live traffic и ML могат да се комбинират в един проект.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artial view looking up at the Colosseum under a blue sky" descr="partial view looking up at the Colosseum under a blue sky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ModernPortfolio">
  <a:themeElements>
    <a:clrScheme name="ModernPortfolio">
      <a:dk1>
        <a:srgbClr val="747474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747474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747474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